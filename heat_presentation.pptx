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1718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5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54D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389120"/>
            <a:ext cx="4114800" cy="41148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535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400" dirty="0">
                <a:solidFill>
                  <a:srgbClr val="A2F2B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581275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Smart Cattle Management System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8785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5E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Oestrus detection • Disease symptom checking • Farm record keeping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2A6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Presentation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6C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Smallholder dairy farms run on memory, not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3C6D1"/>
            </a:solidFill>
            <a:prstDash val="solid"/>
          </a:ln>
          <a:effectLst>
            <a:outerShdw blurRad="101600" dist="38100" dir="5400000" algn="bl" rotWithShape="0">
              <a:srgbClr val="1B243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331720"/>
            <a:ext cx="640080" cy="640080"/>
          </a:xfrm>
          <a:prstGeom prst="ellipse">
            <a:avLst/>
          </a:prstGeom>
          <a:solidFill>
            <a:srgbClr val="FFDAD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320040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Missed heat windows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3794760"/>
            <a:ext cx="2788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3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Oestrus signs are subtle and easy to miss, leading to failed breeding cycles and longer calving intervals.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3C6D1"/>
            </a:solidFill>
            <a:prstDash val="solid"/>
          </a:ln>
          <a:effectLst>
            <a:outerShdw blurRad="101600" dist="38100" dir="5400000" algn="bl" rotWithShape="0">
              <a:srgbClr val="1B2432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331720"/>
            <a:ext cx="640080" cy="640080"/>
          </a:xfrm>
          <a:prstGeom prst="ellipse">
            <a:avLst/>
          </a:prstGeom>
          <a:solidFill>
            <a:srgbClr val="FFDAD6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63440" y="320040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 disease detection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63440" y="3794760"/>
            <a:ext cx="2788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3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a system to flag symptoms early, treatable conditions like mastitis or ECF turn into costly emergencies.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96596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3C6D1"/>
            </a:solidFill>
            <a:prstDash val="solid"/>
          </a:ln>
          <a:effectLst>
            <a:outerShdw blurRad="101600" dist="38100" dir="5400000" algn="bl" rotWithShape="0">
              <a:srgbClr val="1B2432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58200" y="2331720"/>
            <a:ext cx="640080" cy="640080"/>
          </a:xfrm>
          <a:prstGeom prst="ellipse">
            <a:avLst/>
          </a:prstGeom>
          <a:solidFill>
            <a:srgbClr val="FFDAD6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458200" y="320040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Scattered records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58200" y="3794760"/>
            <a:ext cx="2788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3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Milk yields, vaccinations, and expenses live in notebooks or nowhere at all — making trends and profit impossible to see.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3C6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25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2F2B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app, three pillars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5E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Heat combines real-time monitoring with structured record keeping so farmers can act early and plan ahead.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0D3B6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788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A2F2B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♥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68680" y="36576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Oestrus Checker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416052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7D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 visible heat signs and get an instant probability read on the best breeding window.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246888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0D3B6E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2788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A2F2B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⊕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663440" y="36576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Symptom Checker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63440" y="416052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7D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 observed symptoms and match against common cattle diseases with confidence scores and recommended actions.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38160" y="246888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0D3B6E"/>
          </a:solidFill>
          <a:ln/>
        </p:spPr>
      </p:sp>
      <p:sp>
        <p:nvSpPr>
          <p:cNvPr id="14" name="Text 12"/>
          <p:cNvSpPr/>
          <p:nvPr/>
        </p:nvSpPr>
        <p:spPr>
          <a:xfrm>
            <a:off x="8458200" y="2788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A2F2B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☷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458200" y="36576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Farm Records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458200" y="416052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7D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 milk, breeding, health, feed, finances and herd inventory — all in one place.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3C6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6C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MONITORING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Catch it early: heat &amp; health signals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C3C6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488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5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Oestrus Checker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834640"/>
            <a:ext cx="128016" cy="128016"/>
          </a:xfrm>
          <a:prstGeom prst="ellipse">
            <a:avLst/>
          </a:prstGeom>
          <a:solidFill>
            <a:srgbClr val="1B6C3B"/>
          </a:solidFill>
          <a:ln/>
        </p:spPr>
      </p:sp>
      <p:sp>
        <p:nvSpPr>
          <p:cNvPr id="7" name="Text 5"/>
          <p:cNvSpPr/>
          <p:nvPr/>
        </p:nvSpPr>
        <p:spPr>
          <a:xfrm>
            <a:off x="1170432" y="271576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3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Restlessness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46120" y="2834640"/>
            <a:ext cx="128016" cy="128016"/>
          </a:xfrm>
          <a:prstGeom prst="ellipse">
            <a:avLst/>
          </a:prstGeom>
          <a:solidFill>
            <a:srgbClr val="1B6C3B"/>
          </a:solidFill>
          <a:ln/>
        </p:spPr>
      </p:sp>
      <p:sp>
        <p:nvSpPr>
          <p:cNvPr id="9" name="Text 7"/>
          <p:cNvSpPr/>
          <p:nvPr/>
        </p:nvSpPr>
        <p:spPr>
          <a:xfrm>
            <a:off x="3502152" y="271576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3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Mounting others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" y="3337560"/>
            <a:ext cx="128016" cy="128016"/>
          </a:xfrm>
          <a:prstGeom prst="ellipse">
            <a:avLst/>
          </a:prstGeom>
          <a:solidFill>
            <a:srgbClr val="1B6C3B"/>
          </a:solidFill>
          <a:ln/>
        </p:spPr>
      </p:sp>
      <p:sp>
        <p:nvSpPr>
          <p:cNvPr id="11" name="Text 9"/>
          <p:cNvSpPr/>
          <p:nvPr/>
        </p:nvSpPr>
        <p:spPr>
          <a:xfrm>
            <a:off x="1170432" y="321868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3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 discharge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46120" y="3337560"/>
            <a:ext cx="128016" cy="128016"/>
          </a:xfrm>
          <a:prstGeom prst="ellipse">
            <a:avLst/>
          </a:prstGeom>
          <a:solidFill>
            <a:srgbClr val="1B6C3B"/>
          </a:solidFill>
          <a:ln/>
        </p:spPr>
      </p:sp>
      <p:sp>
        <p:nvSpPr>
          <p:cNvPr id="13" name="Text 11"/>
          <p:cNvSpPr/>
          <p:nvPr/>
        </p:nvSpPr>
        <p:spPr>
          <a:xfrm>
            <a:off x="3502152" y="321868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3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Swollen vulva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14400" y="3840480"/>
            <a:ext cx="128016" cy="128016"/>
          </a:xfrm>
          <a:prstGeom prst="ellipse">
            <a:avLst/>
          </a:prstGeom>
          <a:solidFill>
            <a:srgbClr val="1B6C3B"/>
          </a:solidFill>
          <a:ln/>
        </p:spPr>
      </p:sp>
      <p:sp>
        <p:nvSpPr>
          <p:cNvPr id="15" name="Text 13"/>
          <p:cNvSpPr/>
          <p:nvPr/>
        </p:nvSpPr>
        <p:spPr>
          <a:xfrm>
            <a:off x="1170432" y="372160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3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Decreased milk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246120" y="3840480"/>
            <a:ext cx="128016" cy="128016"/>
          </a:xfrm>
          <a:prstGeom prst="ellipse">
            <a:avLst/>
          </a:prstGeom>
          <a:solidFill>
            <a:srgbClr val="1B6C3B"/>
          </a:solidFill>
          <a:ln/>
        </p:spPr>
      </p:sp>
      <p:sp>
        <p:nvSpPr>
          <p:cNvPr id="17" name="Text 15"/>
          <p:cNvSpPr/>
          <p:nvPr/>
        </p:nvSpPr>
        <p:spPr>
          <a:xfrm>
            <a:off x="3502152" y="372160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3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Standing to be mounted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14400" y="4572000"/>
            <a:ext cx="4663440" cy="777240"/>
          </a:xfrm>
          <a:prstGeom prst="roundRect">
            <a:avLst>
              <a:gd name="adj" fmla="val 11765"/>
            </a:avLst>
          </a:prstGeom>
          <a:solidFill>
            <a:srgbClr val="FFDAD6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457200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4+ signs → High probability: optimal breeding window now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17920" y="1874520"/>
            <a:ext cx="539496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C3C6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21488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5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Symptom Checker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83680" y="2834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East Coast Fever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607040" y="28346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B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92%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83680" y="3182112"/>
            <a:ext cx="4663440" cy="109728"/>
          </a:xfrm>
          <a:prstGeom prst="roundRect">
            <a:avLst>
              <a:gd name="adj" fmla="val 50000"/>
            </a:avLst>
          </a:prstGeom>
          <a:solidFill>
            <a:srgbClr val="D5E3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583680" y="3182112"/>
            <a:ext cx="4290365" cy="109728"/>
          </a:xfrm>
          <a:prstGeom prst="roundRect">
            <a:avLst>
              <a:gd name="adj" fmla="val 50000"/>
            </a:avLst>
          </a:prstGeom>
          <a:solidFill>
            <a:srgbClr val="BA1A1A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34930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Foot &amp; Mouth Disease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607040" y="349300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B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78%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583680" y="3840480"/>
            <a:ext cx="4663440" cy="109728"/>
          </a:xfrm>
          <a:prstGeom prst="roundRect">
            <a:avLst>
              <a:gd name="adj" fmla="val 50000"/>
            </a:avLst>
          </a:prstGeom>
          <a:solidFill>
            <a:srgbClr val="D5E3FF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0" y="3840480"/>
            <a:ext cx="3637483" cy="109728"/>
          </a:xfrm>
          <a:prstGeom prst="roundRect">
            <a:avLst>
              <a:gd name="adj" fmla="val 50000"/>
            </a:avLst>
          </a:prstGeom>
          <a:solidFill>
            <a:srgbClr val="BA1A1A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415137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Mastitis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0607040" y="415137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B6C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55%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583680" y="4498848"/>
            <a:ext cx="4663440" cy="109728"/>
          </a:xfrm>
          <a:prstGeom prst="roundRect">
            <a:avLst>
              <a:gd name="adj" fmla="val 50000"/>
            </a:avLst>
          </a:prstGeom>
          <a:solidFill>
            <a:srgbClr val="D5E3FF"/>
          </a:solidFill>
          <a:ln/>
        </p:spPr>
      </p:sp>
      <p:sp>
        <p:nvSpPr>
          <p:cNvPr id="33" name="Shape 31"/>
          <p:cNvSpPr/>
          <p:nvPr/>
        </p:nvSpPr>
        <p:spPr>
          <a:xfrm>
            <a:off x="6583680" y="4498848"/>
            <a:ext cx="2564892" cy="109728"/>
          </a:xfrm>
          <a:prstGeom prst="roundRect">
            <a:avLst>
              <a:gd name="adj" fmla="val 50000"/>
            </a:avLst>
          </a:prstGeom>
          <a:solidFill>
            <a:srgbClr val="00254D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0" y="480974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Bloat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0607040" y="4809744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B6C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583680" y="5157216"/>
            <a:ext cx="4663440" cy="109728"/>
          </a:xfrm>
          <a:prstGeom prst="roundRect">
            <a:avLst>
              <a:gd name="adj" fmla="val 50000"/>
            </a:avLst>
          </a:prstGeom>
          <a:solidFill>
            <a:srgbClr val="D5E3FF"/>
          </a:solidFill>
          <a:ln/>
        </p:spPr>
      </p:sp>
      <p:sp>
        <p:nvSpPr>
          <p:cNvPr id="37" name="Shape 35"/>
          <p:cNvSpPr/>
          <p:nvPr/>
        </p:nvSpPr>
        <p:spPr>
          <a:xfrm>
            <a:off x="6583680" y="5157216"/>
            <a:ext cx="1399032" cy="109728"/>
          </a:xfrm>
          <a:prstGeom prst="roundRect">
            <a:avLst>
              <a:gd name="adj" fmla="val 50000"/>
            </a:avLst>
          </a:prstGeom>
          <a:solidFill>
            <a:srgbClr val="00254D"/>
          </a:solidFill>
          <a:ln/>
        </p:spPr>
      </p:sp>
      <p:sp>
        <p:nvSpPr>
          <p:cNvPr id="38" name="Text 36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3C6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6C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IN THIS RELEASE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Farm Records: six categories, one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3C6D1"/>
            </a:solidFill>
            <a:prstDash val="solid"/>
          </a:ln>
          <a:effectLst>
            <a:outerShdw blurRad="76200" dist="25400" dir="5400000" algn="bl" rotWithShape="0">
              <a:srgbClr val="1B2432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7568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🥛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25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Milk Production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3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Per-session yield logs with monthly totals per animal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87452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3C6D1"/>
            </a:solidFill>
            <a:prstDash val="solid"/>
          </a:ln>
          <a:effectLst>
            <a:outerShdw blurRad="76200" dist="25400" dir="5400000" algn="bl" rotWithShape="0">
              <a:srgbClr val="1B2432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207568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🐄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0" y="265176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25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Breeding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0" y="29718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3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Service, pregnancy checks, and calving history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87452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3C6D1"/>
            </a:solidFill>
            <a:prstDash val="solid"/>
          </a:ln>
          <a:effectLst>
            <a:outerShdw blurRad="76200" dist="25400" dir="5400000" algn="bl" rotWithShape="0">
              <a:srgbClr val="1B2432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1040" y="207568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💉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321040" y="265176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25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321040" y="29718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3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Vaccinations, treatments, vet visits &amp; costs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3C6D1"/>
            </a:solidFill>
            <a:prstDash val="solid"/>
          </a:ln>
          <a:effectLst>
            <a:outerShdw blurRad="76200" dist="25400" dir="5400000" algn="bl" rotWithShape="0">
              <a:srgbClr val="1B2432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404164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🌾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22960" y="461772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25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 &amp; Nutrition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22960" y="49377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3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 type, quantity, and cost tracking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97680" y="384048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3C6D1"/>
            </a:solidFill>
            <a:prstDash val="solid"/>
          </a:ln>
          <a:effectLst>
            <a:outerShdw blurRad="76200" dist="25400" dir="5400000" algn="bl" rotWithShape="0">
              <a:srgbClr val="1B2432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0" y="404164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572000" y="461772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25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572000" y="49377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3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Income, expenses, and net profit at a glance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0" y="384048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3C6D1"/>
            </a:solidFill>
            <a:prstDash val="solid"/>
          </a:ln>
          <a:effectLst>
            <a:outerShdw blurRad="76200" dist="25400" dir="5400000" algn="bl" rotWithShape="0">
              <a:srgbClr val="1B2432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21040" y="404164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321040" y="461772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25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Inventory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321040" y="49377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3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herd register: breed, weight, status, purpose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3C6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25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2F2B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rolls up to one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0D3B6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031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ANIMALS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383280" y="19202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A2F2B3"/>
          </a:solidFill>
          <a:ln/>
        </p:spPr>
      </p:sp>
      <p:sp>
        <p:nvSpPr>
          <p:cNvPr id="8" name="Text 6"/>
          <p:cNvSpPr/>
          <p:nvPr/>
        </p:nvSpPr>
        <p:spPr>
          <a:xfrm>
            <a:off x="3611880" y="21031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1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ACTIVE BULLS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11880" y="24231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217920" y="19202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DAD6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1031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B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URGENT ALERTS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46520" y="24231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052560" y="19202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0D3B6E"/>
          </a:solidFill>
          <a:ln/>
        </p:spPr>
      </p:sp>
      <p:sp>
        <p:nvSpPr>
          <p:cNvPr id="14" name="Text 12"/>
          <p:cNvSpPr/>
          <p:nvPr/>
        </p:nvSpPr>
        <p:spPr>
          <a:xfrm>
            <a:off x="9281160" y="21031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 PROFIT (MTD)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281160" y="24231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KSh 83,400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48640" y="3703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5E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Recent activity feeds straight from the Farm Records module — no duplicate data entry.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343400"/>
            <a:ext cx="10515600" cy="548640"/>
          </a:xfrm>
          <a:prstGeom prst="roundRect">
            <a:avLst>
              <a:gd name="adj" fmla="val 13333"/>
            </a:avLst>
          </a:prstGeom>
          <a:solidFill>
            <a:srgbClr val="0D3B6E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3434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Daisy: Oestrus Alert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389120" y="43434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Signs detected 2 hours ago — optimal breeding window.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029200"/>
            <a:ext cx="10515600" cy="548640"/>
          </a:xfrm>
          <a:prstGeom prst="roundRect">
            <a:avLst>
              <a:gd name="adj" fmla="val 13333"/>
            </a:avLst>
          </a:prstGeom>
          <a:solidFill>
            <a:srgbClr val="0D3B6E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0292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Bessie: Vaccination Due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389120" y="5029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LSD booster scheduled for tomorrow.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715000"/>
            <a:ext cx="10515600" cy="548640"/>
          </a:xfrm>
          <a:prstGeom prst="roundRect">
            <a:avLst>
              <a:gd name="adj" fmla="val 13333"/>
            </a:avLst>
          </a:prstGeom>
          <a:solidFill>
            <a:srgbClr val="0D3B6E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7150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Mama Ng'ombe: Mastitis Flag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389120" y="57150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Reduced milk yield reported.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3C6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6C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 THE HOOD &amp; 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lean, designed to grow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C3C6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488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25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Build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77440" y="27889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3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HTML5, Tailwind CSS, vanilla JavaScript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(demo)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77440" y="34747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3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In-browser JS state — herd, milk, breeding, health, feed &amp; financial records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41605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77440" y="41605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3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Responsive layout: sidebar nav on desktop, bottom nav on mobile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48463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Export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77440" y="48463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3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One-click CSV export of the full farm summary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1874520"/>
            <a:ext cx="5394960" cy="3749040"/>
          </a:xfrm>
          <a:prstGeom prst="roundRect">
            <a:avLst>
              <a:gd name="adj" fmla="val 2927"/>
            </a:avLst>
          </a:prstGeom>
          <a:solidFill>
            <a:srgbClr val="00254D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21488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583680" y="2880360"/>
            <a:ext cx="292608" cy="292608"/>
          </a:xfrm>
          <a:prstGeom prst="ellipse">
            <a:avLst/>
          </a:prstGeom>
          <a:solidFill>
            <a:srgbClr val="A2F2B3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28803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5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40880" y="27889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 a backend database so records persist across sessions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83680" y="3538728"/>
            <a:ext cx="292608" cy="292608"/>
          </a:xfrm>
          <a:prstGeom prst="ellipse">
            <a:avLst/>
          </a:prstGeom>
          <a:solidFill>
            <a:srgbClr val="A2F2B3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35387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5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40880" y="344728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user accounts for multi-farm / multi-user access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3680" y="4197096"/>
            <a:ext cx="292608" cy="292608"/>
          </a:xfrm>
          <a:prstGeom prst="ellipse">
            <a:avLst/>
          </a:prstGeom>
          <a:solidFill>
            <a:srgbClr val="A2F2B3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41970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5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40880" y="4105656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SMS alerts for heat windows and vaccination due dates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83680" y="4855464"/>
            <a:ext cx="292608" cy="292608"/>
          </a:xfrm>
          <a:prstGeom prst="ellipse">
            <a:avLst/>
          </a:prstGeom>
          <a:solidFill>
            <a:srgbClr val="A2F2B3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485546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5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40880" y="4764024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 &amp; delete on existing records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3C6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25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Asante!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5E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Healthier herds, better records, more informed decisions.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2F2B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Discussion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525</Words>
  <Application>Microsoft Office PowerPoint</Application>
  <PresentationFormat>Widescreen</PresentationFormat>
  <Paragraphs>120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9B34 Designs</cp:lastModifiedBy>
  <cp:revision>3</cp:revision>
  <dcterms:created xsi:type="dcterms:W3CDTF">2026-07-17T18:48:32Z</dcterms:created>
  <dcterms:modified xsi:type="dcterms:W3CDTF">2026-07-18T07:18:14Z</dcterms:modified>
</cp:coreProperties>
</file>